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firstSlideNum="0">
  <p:sldMasterIdLst>
    <p:sldMasterId id="2147483648" r:id="rId1"/>
    <p:sldMasterId id="2147483661" r:id="rId2"/>
  </p:sldMasterIdLst>
  <p:handoutMasterIdLst>
    <p:handoutMasterId r:id="rId58"/>
  </p:handout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ns3:sldGuideLst>
        <ns3:guide id="1" orient="horz" pos="3264" userDrawn="1">
          <ns3:clr>
            <a:srgbClr val="A4A3A4"/>
          </ns3:clr>
        </ns3:guide>
        <ns3:guide id="2" orient="horz" pos="929" userDrawn="1">
          <ns3:clr>
            <a:srgbClr val="A4A3A4"/>
          </ns3:clr>
        </ns3:guide>
        <ns3:guide id="3" orient="horz" pos="2889" userDrawn="1">
          <ns3:clr>
            <a:srgbClr val="A4A3A4"/>
          </ns3:clr>
        </ns3:guide>
        <ns3:guide id="4" pos="1884" userDrawn="1">
          <ns3:clr>
            <a:srgbClr val="A4A3A4"/>
          </ns3:clr>
        </ns3:guide>
        <ns3:guide id="5" pos="2463" userDrawn="1">
          <ns3:clr>
            <a:srgbClr val="A4A3A4"/>
          </ns3:clr>
        </ns3:guide>
        <ns3:guide id="6" pos="3477" userDrawn="1">
          <ns3:clr>
            <a:srgbClr val="A4A3A4"/>
          </ns3:clr>
        </ns3:guide>
      </ns3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2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3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4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5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6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9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0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1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2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3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AutoShape 10"/>
          <ns0:cNvSpPr>
            <a:spLocks noChangeArrowheads="1"/>
          </ns0:cNvSpPr>
          <ns0:nvPr userDrawn="1"/>
        </ns0:nvSpPr>
        <ns0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7" name="Rectangle 11"/>
          <ns0:cNvSpPr>
            <a:spLocks noChangeArrowheads="1"/>
          </ns0:cNvSpPr>
          <ns0:nvPr userDrawn="1"/>
        </ns0:nvSpPr>
        <ns0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4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5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6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7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8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1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2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3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4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3:id="rId1"/>
    <ns0:sldLayoutId id="2147483650" ns3:id="rId2"/>
    <ns0:sldLayoutId id="2147483651" ns3:id="rId3"/>
    <ns0:sldLayoutId id="2147483652" ns3:id="rId4"/>
    <ns0:sldLayoutId id="2147483653" ns3:id="rId5"/>
    <ns0:sldLayoutId id="2147483654" ns3:id="rId6"/>
    <ns0:sldLayoutId id="2147483655" ns3:id="rId7"/>
    <ns0:sldLayoutId id="2147483656" ns3:id="rId8"/>
    <ns0:sldLayoutId id="2147483657" ns3:id="rId9"/>
    <ns0:sldLayoutId id="2147483658" ns3:id="rId10"/>
    <ns0:sldLayoutId id="2147483659" ns3:id="rId11"/>
    <ns0:sldLayoutId id="2147483660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Masters/slideMaster2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62" ns3:id="rId1"/>
    <ns0:sldLayoutId id="2147483663" ns3:id="rId2"/>
    <ns0:sldLayoutId id="2147483664" ns3:id="rId3"/>
    <ns0:sldLayoutId id="2147483665" ns3:id="rId4"/>
    <ns0:sldLayoutId id="2147483666" ns3:id="rId5"/>
    <ns0:sldLayoutId id="2147483667" ns3:id="rId6"/>
    <ns0:sldLayoutId id="2147483668" ns3:id="rId7"/>
    <ns0:sldLayoutId id="2147483669" ns3:id="rId8"/>
    <ns0:sldLayoutId id="2147483670" ns3:id="rId9"/>
    <ns0:sldLayoutId id="2147483671" ns3:id="rId10"/>
    <ns0:sldLayoutId id="2147483672" ns3:id="rId11"/>
    <ns0:sldLayoutId id="2147483673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2103120" y="2633472"/>
            <a:ext cx="7955279" cy="640080"/>
          </a:xfrm>
        </p:spPr>
        <p:txBody>
          <a:bodyPr wrap="square" lIns="0" rIns="0" tIns="0" bIns="0" anchor="ctr"/>
          <a:lstStyle/>
          <a:p>
            <a:pPr algn="ctr"/>
            <a:r>
              <a:rPr sz="3000" b="1">
                <a:solidFill>
                  <a:srgbClr val="213261"/>
                </a:solidFill>
                <a:latin typeface="Microsoft YaHei"/>
              </a:rPr>
              <a:t>技术方案评审材料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31720" y="331012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11111"/>
                </a:solidFill>
                <a:latin typeface="Microsoft YaHei"/>
              </a:rPr>
              <a:t>背景、结论与后续安排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52628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汇报部门：业务技术团队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8646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日期：2026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目录进度示例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长培训或方案说明先给读者定位当前位置。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2103120" y="1664208"/>
            <a:ext cx="512064" cy="512064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664208"/>
            <a:ext cx="7360920" cy="512064"/>
          </a:xfrm>
          <a:prstGeom prst="rect">
            <a:avLst/>
          </a:prstGeom>
          <a:solidFill>
            <a:srgbClr val="FAFAFA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75564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背景和目标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75564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先说明为什么要做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395728"/>
            <a:ext cx="512064" cy="512064"/>
          </a:xfrm>
          <a:prstGeom prst="rect">
            <a:avLst/>
          </a:prstGeom>
          <a:solidFill>
            <a:srgbClr val="0062AC"/>
          </a:solidFill>
          <a:ln w="762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395728"/>
            <a:ext cx="7360920" cy="512064"/>
          </a:xfrm>
          <a:prstGeom prst="rect">
            <a:avLst/>
          </a:prstGeom>
          <a:solidFill>
            <a:srgbClr val="0062AC"/>
          </a:solidFill>
          <a:ln w="762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48716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方案设计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48716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</a:rPr>
              <a:t>本页高亮当前章节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127248"/>
            <a:ext cx="512064" cy="512064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127248"/>
            <a:ext cx="7360920" cy="512064"/>
          </a:xfrm>
          <a:prstGeom prst="rect">
            <a:avLst/>
          </a:prstGeom>
          <a:solidFill>
            <a:srgbClr val="FAFAFA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321868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实施路径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21868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再说明怎么推进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3858768"/>
            <a:ext cx="512064" cy="512064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858768"/>
            <a:ext cx="7360920" cy="512064"/>
          </a:xfrm>
          <a:prstGeom prst="rect">
            <a:avLst/>
          </a:prstGeom>
          <a:solidFill>
            <a:srgbClr val="FAFAFA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95020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验证结果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95020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最后沉淀结论和动作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使用：超过 12 页或跨多个章节时，用目录页承接阅读节奏。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阶段推进示例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先试点验证，再按范围逐步推广。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2743200"/>
            <a:ext cx="10149840" cy="54864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阶段一</a:t>
            </a:r>
          </a:p>
        </p:txBody>
      </p:sp>
      <p:sp>
        <p:nvSpPr>
          <p:cNvPr id="7" name="Oval 6"/>
          <p:cNvSpPr/>
          <p:nvPr/>
        </p:nvSpPr>
        <p:spPr>
          <a:xfrm>
            <a:off x="187909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调研确认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明确对象、口径和边界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阶段二</a:t>
            </a:r>
          </a:p>
        </p:txBody>
      </p:sp>
      <p:sp>
        <p:nvSpPr>
          <p:cNvPr id="12" name="Oval 11"/>
          <p:cNvSpPr/>
          <p:nvPr/>
        </p:nvSpPr>
        <p:spPr>
          <a:xfrm>
            <a:off x="453085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试点验证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选择代表场景做闭环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阶段三</a:t>
            </a:r>
          </a:p>
        </p:txBody>
      </p:sp>
      <p:sp>
        <p:nvSpPr>
          <p:cNvPr id="17" name="Oval 16"/>
          <p:cNvSpPr/>
          <p:nvPr/>
        </p:nvSpPr>
        <p:spPr>
          <a:xfrm>
            <a:off x="718261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推广落地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扩展到主要团队和项目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阶段四</a:t>
            </a:r>
          </a:p>
        </p:txBody>
      </p:sp>
      <p:sp>
        <p:nvSpPr>
          <p:cNvPr id="22" name="Oval 21"/>
          <p:cNvSpPr/>
          <p:nvPr/>
        </p:nvSpPr>
        <p:spPr>
          <a:xfrm>
            <a:off x="983437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4283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持续优化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按数据反馈迭代规则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230368"/>
            <a:ext cx="10927080" cy="566928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依赖：每阶段结束后先确认口径，再进入下一阶段。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操作步骤示例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按入口、动作、结果组织截图，重点控件用红框标注。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4983480" cy="3108960"/>
          </a:xfrm>
          <a:prstGeom prst="rect">
            <a:avLst/>
          </a:prstGeom>
          <a:solidFill>
            <a:srgbClr val="F2F4F7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029968"/>
            <a:ext cx="4434840" cy="38404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13261"/>
                </a:solidFill>
                <a:latin typeface="Microsoft YaHei"/>
              </a:rPr>
              <a:t>界面示意一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4434840" cy="120700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163824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Microsoft YaHei"/>
              </a:rPr>
              <a:t>真实截图放入此区域，保持同一比例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2852928"/>
            <a:ext cx="1097280" cy="566928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0" y="1572768"/>
            <a:ext cx="4983480" cy="3108960"/>
          </a:xfrm>
          <a:prstGeom prst="rect">
            <a:avLst/>
          </a:prstGeom>
          <a:solidFill>
            <a:srgbClr val="F2F4F7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2029968"/>
            <a:ext cx="4434840" cy="38404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13261"/>
                </a:solidFill>
                <a:latin typeface="Microsoft YaHei"/>
              </a:rPr>
              <a:t>界面示意二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43200"/>
            <a:ext cx="4434840" cy="120700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3163824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Microsoft YaHei"/>
              </a:rPr>
              <a:t>真实截图放入此区域，保持同一比例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29800" y="2852928"/>
            <a:ext cx="1097280" cy="566928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797296" y="2834640"/>
            <a:ext cx="548640" cy="274320"/>
          </a:xfrm>
          <a:prstGeom prst="rightArrow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第一步：进入页面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7316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第二步：确认结果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40680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说明：真实截图交付前需脱敏，截图文字必须可读。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故障排查示例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先定位异常提示，再说明判断依据和处理动作。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6629400" cy="3611880"/>
          </a:xfrm>
          <a:prstGeom prst="rect">
            <a:avLst/>
          </a:prstGeom>
          <a:solidFill>
            <a:srgbClr val="F2F4F7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5989320" cy="38404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13261"/>
                </a:solidFill>
                <a:latin typeface="Microsoft YaHei"/>
              </a:rPr>
              <a:t>异常提示区域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33472"/>
            <a:ext cx="5989320" cy="148132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145536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真实截图放入此区域，保留异常提示和当前页面。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0" y="2779776"/>
            <a:ext cx="1234440" cy="621792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73168"/>
            <a:ext cx="6629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截图证据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572768"/>
            <a:ext cx="3931920" cy="105156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1572768"/>
            <a:ext cx="109728" cy="105156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171907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现象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2103120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页面提示保存失败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852928"/>
            <a:ext cx="3931920" cy="105156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852928"/>
            <a:ext cx="109728" cy="105156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7" y="299923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3383280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先确认配置和权限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133087"/>
            <a:ext cx="3931920" cy="105156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4133087"/>
            <a:ext cx="109728" cy="105156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7" y="427939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4663440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修正后重新提交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440680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边界：本页只说明单个异常，复杂问题拆成多页排查。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架构说明示例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左侧先给阅读口径，右侧展示主链路。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3154680" cy="40416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" cy="404164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13261"/>
                </a:solidFill>
                <a:latin typeface="Microsoft YaHei"/>
              </a:rPr>
              <a:t>阅读口径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86000"/>
            <a:ext cx="254203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明确对象边界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确认主链路方向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标出异常入口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写清交付结论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8" y="4160520"/>
            <a:ext cx="2542032" cy="713232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边界：只讲和本页结论相关的链路。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508760"/>
            <a:ext cx="7406640" cy="40416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755648"/>
            <a:ext cx="6720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主链路示意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468880"/>
            <a:ext cx="1225296" cy="56692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13261"/>
                </a:solidFill>
                <a:latin typeface="Microsoft YaHei"/>
              </a:rPr>
              <a:t>用户入口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468880"/>
            <a:ext cx="1225296" cy="56692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服务网关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468880"/>
            <a:ext cx="1225296" cy="566928"/>
          </a:xfrm>
          <a:prstGeom prst="rect">
            <a:avLst/>
          </a:prstGeom>
          <a:solidFill>
            <a:srgbClr val="00518E"/>
          </a:solidFill>
          <a:ln w="9525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核心服务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468880"/>
            <a:ext cx="1225296" cy="56692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13261"/>
                </a:solidFill>
                <a:latin typeface="Microsoft YaHei"/>
              </a:rPr>
              <a:t>数据存储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70448" y="2651760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607808" y="2651760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345168" y="2651760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3767328"/>
            <a:ext cx="1444752" cy="493776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任务队列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3767328"/>
            <a:ext cx="1444752" cy="493776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审计日志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663440"/>
            <a:ext cx="6675120" cy="384048"/>
          </a:xfrm>
          <a:prstGeom prst="rect">
            <a:avLst/>
          </a:prstGeom>
          <a:solidFill>
            <a:srgbClr val="EDEDED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说明：复杂链路先拆主干，异常分支放到下一页。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05856"/>
            <a:ext cx="10927080" cy="329184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27432" bIns="27432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适用：说明文字和架构图同等重要；图特别宽时改用 ARC-02。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图文拆分架构示例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先看系统关系，再读右侧约束。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6537960" cy="416052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5897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架构关系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12848"/>
            <a:ext cx="1051560" cy="530352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入口层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212848"/>
            <a:ext cx="1051560" cy="530352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FFFFFF"/>
                </a:solidFill>
                <a:latin typeface="Microsoft YaHei"/>
              </a:rPr>
              <a:t>编排服务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212848"/>
            <a:ext cx="1051560" cy="530352"/>
          </a:xfrm>
          <a:prstGeom prst="rect">
            <a:avLst/>
          </a:prstGeom>
          <a:solidFill>
            <a:srgbClr val="00518E"/>
          </a:solidFill>
          <a:ln w="9525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FFFFFF"/>
                </a:solidFill>
                <a:latin typeface="Microsoft YaHei"/>
              </a:rPr>
              <a:t>能力组件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212848"/>
            <a:ext cx="1051560" cy="530352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数据底座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30552" y="2386584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913632" y="2386584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50992" y="2386584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3200400"/>
            <a:ext cx="5897880" cy="126187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364992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能力分层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639312"/>
            <a:ext cx="114300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0">
                <a:solidFill>
                  <a:srgbClr val="111111"/>
                </a:solidFill>
                <a:latin typeface="Microsoft YaHei"/>
              </a:rPr>
              <a:t>任务调度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3639312"/>
            <a:ext cx="114300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0">
                <a:solidFill>
                  <a:srgbClr val="111111"/>
                </a:solidFill>
                <a:latin typeface="Microsoft YaHei"/>
              </a:rPr>
              <a:t>状态同步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37176" y="3639312"/>
            <a:ext cx="114300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0">
                <a:solidFill>
                  <a:srgbClr val="111111"/>
                </a:solidFill>
                <a:latin typeface="Microsoft YaHei"/>
              </a:rPr>
              <a:t>审计追踪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4791456"/>
            <a:ext cx="5897880" cy="420624"/>
          </a:xfrm>
          <a:prstGeom prst="rect">
            <a:avLst/>
          </a:prstGeom>
          <a:solidFill>
            <a:srgbClr val="EDEDED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示意图只保留主干结构，细节放到后续页展开。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1481328"/>
            <a:ext cx="4114800" cy="416052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171907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说明口径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212848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26679" y="2212848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0416" y="2286000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入口边界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0416" y="2523744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统一入口、权限和对象范围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26679" y="2926080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26679" y="2926080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0416" y="2999232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核心链路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0416" y="3236976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先编排任务，再调用能力组件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26679" y="3639312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26679" y="3639312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3712464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数据约束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0416" y="3950208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关键状态和结果需要可追溯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79" y="4352544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26679" y="4352544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0416" y="4425696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输出结果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0416" y="466344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面向评审沉淀结论和行动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742432"/>
            <a:ext cx="9738360" cy="31089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27432" bIns="27432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适用：图和文字同等重要；可按阅读顺序左右互换。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技术架构示例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先看主链路，再看边界条件。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27080" cy="3886200"/>
          </a:xfrm>
          <a:prstGeom prst="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1901952"/>
            <a:ext cx="1828800" cy="74980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外部系统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0" y="1901952"/>
            <a:ext cx="1828800" cy="74980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入口层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1901952"/>
            <a:ext cx="1828800" cy="749808"/>
          </a:xfrm>
          <a:prstGeom prst="rect">
            <a:avLst/>
          </a:prstGeom>
          <a:solidFill>
            <a:srgbClr val="00518E"/>
          </a:solidFill>
          <a:ln w="9525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服务层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901952"/>
            <a:ext cx="1828800" cy="74980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数据层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0360" y="2121408"/>
            <a:ext cx="347472" cy="201168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257800" y="2121408"/>
            <a:ext cx="347472" cy="201168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635240" y="2121408"/>
            <a:ext cx="347472" cy="201168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3218688"/>
            <a:ext cx="7406640" cy="987552"/>
          </a:xfrm>
          <a:prstGeom prst="rect">
            <a:avLst/>
          </a:prstGeom>
          <a:solidFill>
            <a:srgbClr val="EDEDED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主链路说明区：用简短中文标签说明数据、任务或请求如何流转。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3401568"/>
            <a:ext cx="841248" cy="438912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D93025"/>
                </a:solidFill>
                <a:latin typeface="Microsoft YaHei"/>
              </a:rPr>
              <a:t>边界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532120"/>
            <a:ext cx="10927080" cy="502920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边界：本页只展示主要链路，不展开异常分支。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证据表说明示例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密集表格先统一口径，再压缩到可读范围。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96012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572768"/>
            <a:ext cx="137160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对象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572768"/>
            <a:ext cx="1874519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572768"/>
            <a:ext cx="233172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证据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1572768"/>
            <a:ext cx="201168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约束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9720" y="1572768"/>
            <a:ext cx="237744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结论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9601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范围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2011680"/>
            <a:ext cx="137160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项目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011680"/>
            <a:ext cx="1874519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同一对象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011680"/>
            <a:ext cx="23317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来源可追溯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2011680"/>
            <a:ext cx="201168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不跨系统合并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2011680"/>
            <a:ext cx="237744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先确认边界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542032"/>
            <a:ext cx="9601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质量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42032"/>
            <a:ext cx="137160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542032"/>
            <a:ext cx="1874519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同一时间窗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542032"/>
            <a:ext cx="23317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状态可复核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2542032"/>
            <a:ext cx="201168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异常单独说明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542032"/>
            <a:ext cx="237744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支撑评审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072384"/>
            <a:ext cx="9601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时效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72384"/>
            <a:ext cx="137160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任务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3072384"/>
            <a:ext cx="1874519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按日更新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3072384"/>
            <a:ext cx="23317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处理链路完整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072384"/>
            <a:ext cx="201168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延迟需标注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3072384"/>
            <a:ext cx="237744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便于跟踪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602736"/>
            <a:ext cx="9601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风险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02736"/>
            <a:ext cx="137160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异常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71800" y="3602736"/>
            <a:ext cx="1874519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分级记录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3602736"/>
            <a:ext cx="23317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处置动作明确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78040" y="3602736"/>
            <a:ext cx="201168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不可只写现象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3602736"/>
            <a:ext cx="237744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降低误判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133088"/>
            <a:ext cx="9601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输出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133088"/>
            <a:ext cx="137160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结论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4133088"/>
            <a:ext cx="1874519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口径一致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4133088"/>
            <a:ext cx="23317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责任人明确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8040" y="4133088"/>
            <a:ext cx="201168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不填伪数据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20" y="4133088"/>
            <a:ext cx="237744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可进入复盘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074920"/>
            <a:ext cx="10927080" cy="658368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规则：超过 6 列或 8 行时优先拆表，不把正文缩到不可读。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指标评估示例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先明确判断口径，再说明通过标准。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46304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572768"/>
            <a:ext cx="283464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判断内容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1572768"/>
            <a:ext cx="324612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通过标准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572768"/>
            <a:ext cx="338328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业务含义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48256"/>
            <a:ext cx="14630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范围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48256"/>
            <a:ext cx="28346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是否限定对象边界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048256"/>
            <a:ext cx="324612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同一对象、同一时间窗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048256"/>
            <a:ext cx="338328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避免跨范围误判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61488"/>
            <a:ext cx="14630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质量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761488"/>
            <a:ext cx="28346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证据是否可解释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2761488"/>
            <a:ext cx="324612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来源、口径、结果可追溯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761488"/>
            <a:ext cx="338328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支撑评审复核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74720"/>
            <a:ext cx="14630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时效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474720"/>
            <a:ext cx="28346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处理是否及时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3474720"/>
            <a:ext cx="324612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关键状态按日更新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474720"/>
            <a:ext cx="338328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便于持续跟踪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187952"/>
            <a:ext cx="14630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风险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187952"/>
            <a:ext cx="28346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是否有异常兜底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4187952"/>
            <a:ext cx="324612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异常场景有处理路径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4187952"/>
            <a:ext cx="338328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降低交付风险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559552"/>
            <a:ext cx="10927080" cy="475488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输出：通过标准不清晰时，先补口径，不急于填结论。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决策复盘示例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0927080" cy="62179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/>
            <a:r>
              <a:rPr sz="1400" b="1">
                <a:solidFill>
                  <a:srgbClr val="213261"/>
                </a:solidFill>
                <a:latin typeface="Microsoft YaHei"/>
              </a:rPr>
              <a:t>结论：方案可以进入试点，先补齐口径和责任边界。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75104"/>
            <a:ext cx="3337560" cy="12984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75104"/>
            <a:ext cx="3337560" cy="34747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523744"/>
            <a:ext cx="3008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11111"/>
                </a:solidFill>
                <a:latin typeface="Microsoft YaHei"/>
              </a:rPr>
              <a:t>同意按试点范围推进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5696" y="1975104"/>
            <a:ext cx="3337560" cy="12984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25696" y="1975104"/>
            <a:ext cx="3337560" cy="34747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</a:rPr>
              <a:t>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2523744"/>
            <a:ext cx="3008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11111"/>
                </a:solidFill>
                <a:latin typeface="Microsoft YaHei"/>
              </a:rPr>
              <a:t>明确负责人和协同团队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11312" y="1975104"/>
            <a:ext cx="3337560" cy="12984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11312" y="1975104"/>
            <a:ext cx="3337560" cy="34747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523744"/>
            <a:ext cx="3008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11111"/>
                </a:solidFill>
                <a:latin typeface="Microsoft YaHei"/>
              </a:rPr>
              <a:t>完成口径确认和材料补齐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75887"/>
            <a:ext cx="1645920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事项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675887"/>
            <a:ext cx="1965960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负责人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3675887"/>
            <a:ext cx="1874519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675887"/>
            <a:ext cx="5440680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86783"/>
            <a:ext cx="164592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口径确认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986783"/>
            <a:ext cx="196596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业务团队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986783"/>
            <a:ext cx="1874519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本周内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986783"/>
            <a:ext cx="544068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统一判断标准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25112"/>
            <a:ext cx="1645920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试点验证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325112"/>
            <a:ext cx="1965960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项目团队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4325112"/>
            <a:ext cx="1874519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下阶段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325112"/>
            <a:ext cx="5440680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形成验证结果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663440"/>
            <a:ext cx="164592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复盘汇报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4663440"/>
            <a:ext cx="196596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牵头团队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4663440"/>
            <a:ext cx="1874519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评审后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63440"/>
            <a:ext cx="544068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同步风险和结论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76672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跟进：重要结论进入项目清单，避免只停留在会议纪要。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xmlns:ns1="http://schemas.microsoft.com/office/thememl/2012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xmlns:ns1="http://schemas.microsoft.com/office/thememl/2012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xmlns:ns1="http://schemas.microsoft.com/office/thememl/2012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